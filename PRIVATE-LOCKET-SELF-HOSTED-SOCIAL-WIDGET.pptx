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4630400" cy="8229600"/>
  <p:notesSz cx="8229600" cy="146304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8" d="100"/>
          <a:sy n="78" d="100"/>
        </p:scale>
        <p:origin x="189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4326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8.jp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30534" y="215843"/>
            <a:ext cx="11282314" cy="142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2E3C4E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PRIVATE LOCKET</a:t>
            </a:r>
          </a:p>
          <a:p>
            <a:pPr marL="0" indent="0" algn="l">
              <a:lnSpc>
                <a:spcPts val="5600"/>
              </a:lnSpc>
              <a:buNone/>
            </a:pPr>
            <a:r>
              <a:rPr lang="en-US" sz="5400" b="1" dirty="0">
                <a:solidFill>
                  <a:srgbClr val="2E3C4E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SELF-HOSTED SOCIAL WIDGET</a:t>
            </a:r>
            <a:endParaRPr lang="en-US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230534" y="1959333"/>
            <a:ext cx="7627382" cy="1140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 dirty="0">
                <a:solidFill>
                  <a:srgbClr val="2E3C4E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Giải pháp mạng xã hội riêng tư trên hạ tầng cá nhân.</a:t>
            </a:r>
            <a:endParaRPr lang="en-US" sz="35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230534" y="3163983"/>
            <a:ext cx="76273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[</a:t>
            </a:r>
            <a:r>
              <a:rPr lang="vi-VN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Trần Bảo Thắng</a:t>
            </a: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]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230534" y="3510693"/>
            <a:ext cx="76273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Business Analyst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52EA1254-CA8C-D944-2441-673E64B49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3165" y="7658869"/>
            <a:ext cx="2117235" cy="570731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C9C17203-B63B-14B4-CE87-F0385D7793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9031" y="0"/>
            <a:ext cx="3701369" cy="801375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8789" y="1894641"/>
            <a:ext cx="1204674" cy="407075"/>
          </a:xfrm>
          <a:prstGeom prst="roundRect">
            <a:avLst>
              <a:gd name="adj" fmla="val 63869"/>
            </a:avLst>
          </a:prstGeom>
          <a:solidFill>
            <a:srgbClr val="D4E9F7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686" y="2011561"/>
            <a:ext cx="173236" cy="1732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8481" y="1959530"/>
            <a:ext cx="685086" cy="277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VẤN ĐỀ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591086" y="323760"/>
            <a:ext cx="4561284" cy="570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 dirty="0">
                <a:solidFill>
                  <a:srgbClr val="2E3C4E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VẤN ĐỀ &amp; GIẢI PHÁP</a:t>
            </a:r>
            <a:endParaRPr lang="en-US" sz="35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58309" y="2537698"/>
            <a:ext cx="4226838" cy="2020372"/>
          </a:xfrm>
          <a:prstGeom prst="roundRect">
            <a:avLst>
              <a:gd name="adj" fmla="val 7241"/>
            </a:avLst>
          </a:prstGeom>
          <a:solidFill>
            <a:srgbClr val="FFFFFF"/>
          </a:solidFill>
          <a:ln w="30480">
            <a:solidFill>
              <a:srgbClr val="BACFDD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829" y="2537698"/>
            <a:ext cx="121920" cy="20203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6804" y="2784753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Quyền riêng tư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1096804" y="3270885"/>
            <a:ext cx="3641288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Người dùng lo ngại dữ liệu cá nhân bị khai thác trên các MXH công cộng.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5201722" y="2537698"/>
            <a:ext cx="4226838" cy="2020372"/>
          </a:xfrm>
          <a:prstGeom prst="roundRect">
            <a:avLst>
              <a:gd name="adj" fmla="val 7241"/>
            </a:avLst>
          </a:prstGeom>
          <a:solidFill>
            <a:srgbClr val="FFFFFF"/>
          </a:solidFill>
          <a:ln w="30480">
            <a:solidFill>
              <a:srgbClr val="BACFDD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1242" y="2537698"/>
            <a:ext cx="121920" cy="20203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540216" y="2784753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Chi phí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8"/>
          <p:cNvSpPr/>
          <p:nvPr/>
        </p:nvSpPr>
        <p:spPr>
          <a:xfrm>
            <a:off x="5540216" y="3270885"/>
            <a:ext cx="3641288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Các giải pháp lưu trữ đám mây (Cloud) thường tốn phí duy trì hàng tháng.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9645134" y="2537698"/>
            <a:ext cx="4226957" cy="2020372"/>
          </a:xfrm>
          <a:prstGeom prst="roundRect">
            <a:avLst>
              <a:gd name="adj" fmla="val 7241"/>
            </a:avLst>
          </a:prstGeom>
          <a:solidFill>
            <a:srgbClr val="FFFFFF"/>
          </a:solidFill>
          <a:ln w="30480">
            <a:solidFill>
              <a:srgbClr val="BACFDD"/>
            </a:solidFill>
            <a:prstDash val="solid"/>
          </a:ln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4654" y="2537698"/>
            <a:ext cx="121920" cy="20203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983629" y="2784753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Sự xao nhãng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9983629" y="3270885"/>
            <a:ext cx="3641408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Muốn một không gian chỉ dành riêng cho nhóm bạn thân (Close Friends), không quảng cáo.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758309" y="4801791"/>
            <a:ext cx="1439823" cy="407075"/>
          </a:xfrm>
          <a:prstGeom prst="roundRect">
            <a:avLst>
              <a:gd name="adj" fmla="val 63869"/>
            </a:avLst>
          </a:prstGeom>
          <a:solidFill>
            <a:srgbClr val="D4E9F7"/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8206" y="4918710"/>
            <a:ext cx="173236" cy="17323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48001" y="4866680"/>
            <a:ext cx="920234" cy="277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35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GIẢI PHÁP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758309" y="5452586"/>
            <a:ext cx="4226838" cy="1627942"/>
          </a:xfrm>
          <a:prstGeom prst="roundRect">
            <a:avLst>
              <a:gd name="adj" fmla="val 1996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982504" y="5676781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Self-hosted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982504" y="6162913"/>
            <a:ext cx="3778448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Xây dựng ứng dụng tự lưu trữ chạy trên máy cá nhân.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17"/>
          <p:cNvSpPr/>
          <p:nvPr/>
        </p:nvSpPr>
        <p:spPr>
          <a:xfrm>
            <a:off x="5201722" y="5452586"/>
            <a:ext cx="4226838" cy="1627942"/>
          </a:xfrm>
          <a:prstGeom prst="roundRect">
            <a:avLst>
              <a:gd name="adj" fmla="val 1996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5425916" y="5676781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Tunneling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19"/>
          <p:cNvSpPr/>
          <p:nvPr/>
        </p:nvSpPr>
        <p:spPr>
          <a:xfrm>
            <a:off x="5425916" y="6162913"/>
            <a:ext cx="3778448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Kết nối qua NPort để chia sẻ ra Internet miễn phí, bảo mật.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0"/>
          <p:cNvSpPr/>
          <p:nvPr/>
        </p:nvSpPr>
        <p:spPr>
          <a:xfrm>
            <a:off x="9645134" y="5452586"/>
            <a:ext cx="4226957" cy="1627942"/>
          </a:xfrm>
          <a:prstGeom prst="roundRect">
            <a:avLst>
              <a:gd name="adj" fmla="val 1996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28" name="Text 21"/>
          <p:cNvSpPr/>
          <p:nvPr/>
        </p:nvSpPr>
        <p:spPr>
          <a:xfrm>
            <a:off x="9869329" y="5676781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Real-time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 22"/>
          <p:cNvSpPr/>
          <p:nvPr/>
        </p:nvSpPr>
        <p:spPr>
          <a:xfrm>
            <a:off x="9869329" y="6162913"/>
            <a:ext cx="3778568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Tập trung vào tính năng thời gian thực.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1" name="Hình ảnh 30">
            <a:extLst>
              <a:ext uri="{FF2B5EF4-FFF2-40B4-BE49-F238E27FC236}">
                <a16:creationId xmlns:a16="http://schemas.microsoft.com/office/drawing/2014/main" id="{7F715010-17B2-A279-8890-DB6558890CC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13165" y="7658869"/>
            <a:ext cx="2117235" cy="57073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1011" y="321172"/>
            <a:ext cx="2833211" cy="3542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3500" b="1" dirty="0">
                <a:solidFill>
                  <a:srgbClr val="2E3C4E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MÔ HÌNH HỆ THỐNG</a:t>
            </a: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3113" y="1060608"/>
            <a:ext cx="1770698" cy="2212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2E3C4E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Chức năng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738544" y="5828110"/>
            <a:ext cx="4315897" cy="430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Hệ thống tập trung vào trải nghiệm người dùng tối giản: Đăng ảnh &amp; Tương tác nhanh.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7487007" y="1060609"/>
            <a:ext cx="1770698" cy="2212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2E3C4E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Dữ liệu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7487007" y="5900380"/>
            <a:ext cx="4315897" cy="430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Cơ sở dữ liệu quan hệ (Relational DB) đảm bảo tính toàn vẹn giữa User, Post và Comment.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773113" y="6602164"/>
            <a:ext cx="2219325" cy="265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2000" b="1" dirty="0">
                <a:solidFill>
                  <a:srgbClr val="2E3C4E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Công nghệ (Tech Stack)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773113" y="7069603"/>
            <a:ext cx="8960168" cy="215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sz="20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Backend: Python (Flask).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773113" y="7331898"/>
            <a:ext cx="8960168" cy="215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sz="20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Database: SQLite.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773113" y="7594193"/>
            <a:ext cx="8960168" cy="215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sz="20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Infrastructure: NPort / Cloudflare Tunnel.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Hình ảnh 12">
            <a:extLst>
              <a:ext uri="{FF2B5EF4-FFF2-40B4-BE49-F238E27FC236}">
                <a16:creationId xmlns:a16="http://schemas.microsoft.com/office/drawing/2014/main" id="{3CC64035-A7CB-DF4C-F53C-A38F642A6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3164" y="7701826"/>
            <a:ext cx="2117235" cy="570731"/>
          </a:xfrm>
          <a:prstGeom prst="rect">
            <a:avLst/>
          </a:prstGeom>
        </p:spPr>
      </p:pic>
      <p:pic>
        <p:nvPicPr>
          <p:cNvPr id="14" name="Hình ảnh 13">
            <a:extLst>
              <a:ext uri="{FF2B5EF4-FFF2-40B4-BE49-F238E27FC236}">
                <a16:creationId xmlns:a16="http://schemas.microsoft.com/office/drawing/2014/main" id="{5C875359-BD14-360C-B470-B790219A79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541" y="1458396"/>
            <a:ext cx="4652546" cy="4265414"/>
          </a:xfrm>
          <a:prstGeom prst="rect">
            <a:avLst/>
          </a:prstGeom>
        </p:spPr>
      </p:pic>
      <p:pic>
        <p:nvPicPr>
          <p:cNvPr id="15" name="Hình ảnh 14">
            <a:extLst>
              <a:ext uri="{FF2B5EF4-FFF2-40B4-BE49-F238E27FC236}">
                <a16:creationId xmlns:a16="http://schemas.microsoft.com/office/drawing/2014/main" id="{682F082C-35F6-49DD-8A1F-F27914FFC5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281827"/>
            <a:ext cx="4866571" cy="44721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736402"/>
            <a:ext cx="6805493" cy="570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 dirty="0">
                <a:solidFill>
                  <a:srgbClr val="2E3C4E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LUỒNG NGƯỜI DÙNG (USER FLOW)</a:t>
            </a:r>
            <a:endParaRPr lang="en-US" sz="35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09" y="1739741"/>
            <a:ext cx="4371261" cy="8665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74884" y="2822853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Bước 1: Login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570" y="1739741"/>
            <a:ext cx="4371261" cy="866537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346144" y="2822853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Bước 2: Upload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0830" y="1739741"/>
            <a:ext cx="4371261" cy="866537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9717405" y="2822853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Bước 3: Interact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541734" y="6754368"/>
            <a:ext cx="13113782" cy="1462088"/>
          </a:xfrm>
          <a:prstGeom prst="roundRect">
            <a:avLst>
              <a:gd name="adj" fmla="val 22228"/>
            </a:avLst>
          </a:prstGeom>
          <a:solidFill>
            <a:srgbClr val="BEDFF3"/>
          </a:solidFill>
          <a:ln/>
        </p:spPr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309" y="7086910"/>
            <a:ext cx="270748" cy="216575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245632" y="7024997"/>
            <a:ext cx="12193310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Thời gian phản hồi &lt; 3s.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6"/>
          <p:cNvSpPr/>
          <p:nvPr/>
        </p:nvSpPr>
        <p:spPr>
          <a:xfrm>
            <a:off x="1245632" y="7566612"/>
            <a:ext cx="12193310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Giao diện Responsive trên thiết bị di động.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Hình ảnh 15">
            <a:extLst>
              <a:ext uri="{FF2B5EF4-FFF2-40B4-BE49-F238E27FC236}">
                <a16:creationId xmlns:a16="http://schemas.microsoft.com/office/drawing/2014/main" id="{FFC9DAB9-6ED4-B201-28BD-027A0A7322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13164" y="7701826"/>
            <a:ext cx="2117235" cy="570731"/>
          </a:xfrm>
          <a:prstGeom prst="rect">
            <a:avLst/>
          </a:prstGeom>
        </p:spPr>
      </p:pic>
      <p:pic>
        <p:nvPicPr>
          <p:cNvPr id="18" name="Hình ảnh 17" descr="Ảnh có chứa văn bản, ảnh chụp màn hình, thiết kế&#10;&#10;Nội dung do AI tạo ra có thể không chính xác.">
            <a:extLst>
              <a:ext uri="{FF2B5EF4-FFF2-40B4-BE49-F238E27FC236}">
                <a16:creationId xmlns:a16="http://schemas.microsoft.com/office/drawing/2014/main" id="{258E7DD6-BA33-FE76-8934-CF4C98F253B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0016" y="3286603"/>
            <a:ext cx="1680258" cy="3099852"/>
          </a:xfrm>
          <a:prstGeom prst="rect">
            <a:avLst/>
          </a:prstGeom>
        </p:spPr>
      </p:pic>
      <p:pic>
        <p:nvPicPr>
          <p:cNvPr id="22" name="Hình ảnh 21" descr="Ảnh có chứa văn bản, ảnh chụp màn hình, trang phục, phần mềm&#10;&#10;Nội dung do AI tạo ra có thể không chính xác.">
            <a:extLst>
              <a:ext uri="{FF2B5EF4-FFF2-40B4-BE49-F238E27FC236}">
                <a16:creationId xmlns:a16="http://schemas.microsoft.com/office/drawing/2014/main" id="{5E12AE38-4528-8CDB-EB50-EED69C89F8E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67047" y="3269696"/>
            <a:ext cx="1673585" cy="3099852"/>
          </a:xfrm>
          <a:prstGeom prst="rect">
            <a:avLst/>
          </a:prstGeom>
        </p:spPr>
      </p:pic>
      <p:pic>
        <p:nvPicPr>
          <p:cNvPr id="26" name="Hình ảnh 25">
            <a:extLst>
              <a:ext uri="{FF2B5EF4-FFF2-40B4-BE49-F238E27FC236}">
                <a16:creationId xmlns:a16="http://schemas.microsoft.com/office/drawing/2014/main" id="{6A0728E7-610B-A688-CC9C-241653E9E5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54710" y="3179088"/>
            <a:ext cx="1431750" cy="30998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1144548"/>
            <a:ext cx="5053965" cy="570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 dirty="0">
                <a:solidFill>
                  <a:srgbClr val="2E3C4E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ĐỊNH HƯỚNG PHÁT TRIỂN</a:t>
            </a:r>
            <a:endParaRPr lang="en-US" sz="35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58309" y="4193977"/>
            <a:ext cx="13113782" cy="30480"/>
          </a:xfrm>
          <a:prstGeom prst="roundRect">
            <a:avLst>
              <a:gd name="adj" fmla="val 1066251"/>
            </a:avLst>
          </a:prstGeom>
          <a:solidFill>
            <a:srgbClr val="BACFDD"/>
          </a:solidFill>
          <a:ln/>
        </p:spPr>
      </p:sp>
      <p:sp>
        <p:nvSpPr>
          <p:cNvPr id="4" name="Shape 2"/>
          <p:cNvSpPr/>
          <p:nvPr/>
        </p:nvSpPr>
        <p:spPr>
          <a:xfrm>
            <a:off x="5069205" y="3544014"/>
            <a:ext cx="30480" cy="649962"/>
          </a:xfrm>
          <a:prstGeom prst="roundRect">
            <a:avLst>
              <a:gd name="adj" fmla="val 1066251"/>
            </a:avLst>
          </a:prstGeom>
          <a:solidFill>
            <a:srgbClr val="BACFDD"/>
          </a:solidFill>
          <a:ln/>
        </p:spPr>
      </p:sp>
      <p:sp>
        <p:nvSpPr>
          <p:cNvPr id="5" name="Shape 3"/>
          <p:cNvSpPr/>
          <p:nvPr/>
        </p:nvSpPr>
        <p:spPr>
          <a:xfrm>
            <a:off x="4840724" y="3950256"/>
            <a:ext cx="487442" cy="487442"/>
          </a:xfrm>
          <a:prstGeom prst="roundRect">
            <a:avLst>
              <a:gd name="adj" fmla="val 6667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13412" y="3980200"/>
            <a:ext cx="342067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384653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1</a:t>
            </a:r>
            <a:endParaRPr lang="en-US" sz="2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659029" y="2147888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Giai đoạn 1 (Hiện tại)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74884" y="2634020"/>
            <a:ext cx="8219123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Hoàn thiện MVP (Minimum Viable Product) với tính năng đăng ảnh, chat cơ bản.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9530715" y="4193977"/>
            <a:ext cx="30480" cy="649962"/>
          </a:xfrm>
          <a:prstGeom prst="roundRect">
            <a:avLst>
              <a:gd name="adj" fmla="val 1066251"/>
            </a:avLst>
          </a:prstGeom>
          <a:solidFill>
            <a:srgbClr val="BACFDD"/>
          </a:solidFill>
          <a:ln/>
        </p:spPr>
      </p:sp>
      <p:sp>
        <p:nvSpPr>
          <p:cNvPr id="10" name="Shape 8"/>
          <p:cNvSpPr/>
          <p:nvPr/>
        </p:nvSpPr>
        <p:spPr>
          <a:xfrm>
            <a:off x="9302234" y="3950256"/>
            <a:ext cx="487442" cy="487442"/>
          </a:xfrm>
          <a:prstGeom prst="roundRect">
            <a:avLst>
              <a:gd name="adj" fmla="val 6667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74922" y="3980200"/>
            <a:ext cx="342067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384653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2</a:t>
            </a:r>
            <a:endParaRPr lang="en-US" sz="2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120539" y="5060513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Giai đoạn 2 (Tương lai)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436394" y="5546646"/>
            <a:ext cx="8219123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Tích hợp </a:t>
            </a:r>
            <a:r>
              <a:rPr lang="en-US" sz="1700" b="1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Notification</a:t>
            </a: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 (Thông báo đẩy) qua Telegram Bot khi có ảnh mới.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436394" y="5969079"/>
            <a:ext cx="8219123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Phát triển </a:t>
            </a:r>
            <a:r>
              <a:rPr lang="en-US" sz="1700" b="1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Mobile App</a:t>
            </a: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 (Flutter) để đưa Widget ra màn hình chính điện thoại.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436333" y="6357105"/>
            <a:ext cx="8219123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Nâng cấp Server lên </a:t>
            </a:r>
            <a:r>
              <a:rPr lang="en-US" sz="1700" b="1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VPS</a:t>
            </a: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 để hoạt động 24/7.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Hình ảnh 15">
            <a:extLst>
              <a:ext uri="{FF2B5EF4-FFF2-40B4-BE49-F238E27FC236}">
                <a16:creationId xmlns:a16="http://schemas.microsoft.com/office/drawing/2014/main" id="{6ED7E419-8775-4471-06CF-3F00C7B151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3164" y="7701826"/>
            <a:ext cx="2117235" cy="57073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0339" y="1480542"/>
            <a:ext cx="4561284" cy="570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 dirty="0">
                <a:solidFill>
                  <a:srgbClr val="2E3C4E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BÀI HỌC KINH NGHIỆM</a:t>
            </a:r>
            <a:endParaRPr lang="en-US" sz="35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58309" y="3053953"/>
            <a:ext cx="131137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Qua dự án này, tôi đã nắm vững: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58309" y="3644384"/>
            <a:ext cx="487442" cy="487442"/>
          </a:xfrm>
          <a:prstGeom prst="roundRect">
            <a:avLst>
              <a:gd name="adj" fmla="val 6667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30997" y="3674328"/>
            <a:ext cx="342067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384653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1</a:t>
            </a:r>
            <a:endParaRPr lang="en-US" sz="2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462326" y="3714750"/>
            <a:ext cx="3486745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Quy trình phát triển phần mềm từ ý tưởng đến triển khai (SDLC).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219819" y="3644384"/>
            <a:ext cx="487442" cy="487442"/>
          </a:xfrm>
          <a:prstGeom prst="roundRect">
            <a:avLst>
              <a:gd name="adj" fmla="val 6667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92507" y="3674328"/>
            <a:ext cx="342067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384653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2</a:t>
            </a:r>
            <a:endParaRPr lang="en-US" sz="2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923836" y="3714750"/>
            <a:ext cx="3486745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Kỹ năng đặc tả yêu cầu (SRS) và mô hình hóa hệ thống (UML).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681329" y="3644384"/>
            <a:ext cx="487442" cy="487442"/>
          </a:xfrm>
          <a:prstGeom prst="roundRect">
            <a:avLst>
              <a:gd name="adj" fmla="val 66673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54017" y="3674328"/>
            <a:ext cx="342067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384653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3</a:t>
            </a:r>
            <a:endParaRPr lang="en-US" sz="2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385346" y="3714750"/>
            <a:ext cx="3486745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Hiểu biết về kiến trúc Client-Server và API.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58309" y="5079802"/>
            <a:ext cx="3420904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650" b="1" dirty="0">
                <a:solidFill>
                  <a:srgbClr val="75BAE6"/>
                </a:solidFill>
                <a:latin typeface="Times New Roman" panose="02020603050405020304" pitchFamily="18" charset="0"/>
                <a:ea typeface="Barlow Bold" pitchFamily="34" charset="-122"/>
                <a:cs typeface="Times New Roman" panose="02020603050405020304" pitchFamily="18" charset="0"/>
              </a:rPr>
              <a:t>Cảm ơn đã lắng nghe!</a:t>
            </a:r>
            <a:endParaRPr lang="en-US" sz="2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58309" y="5832277"/>
            <a:ext cx="131137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Times New Roman" panose="02020603050405020304" pitchFamily="18" charset="0"/>
                <a:ea typeface="Montserrat" pitchFamily="34" charset="-122"/>
                <a:cs typeface="Times New Roman" panose="02020603050405020304" pitchFamily="18" charset="0"/>
              </a:rPr>
              <a:t>baothangtbt05@gmail.com</a:t>
            </a: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" name="Hình ảnh 14">
            <a:extLst>
              <a:ext uri="{FF2B5EF4-FFF2-40B4-BE49-F238E27FC236}">
                <a16:creationId xmlns:a16="http://schemas.microsoft.com/office/drawing/2014/main" id="{E257D471-08A9-7221-C723-19ADF0394D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3164" y="7701826"/>
            <a:ext cx="2117235" cy="57073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400</Words>
  <Application>Microsoft Office PowerPoint</Application>
  <PresentationFormat>Tùy chỉnh</PresentationFormat>
  <Paragraphs>60</Paragraphs>
  <Slides>6</Slides>
  <Notes>6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2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6</vt:i4>
      </vt:variant>
    </vt:vector>
  </HeadingPairs>
  <TitlesOfParts>
    <vt:vector size="9" baseType="lpstr">
      <vt:lpstr>Arial</vt:lpstr>
      <vt:lpstr>Times New Roman</vt:lpstr>
      <vt:lpstr>Office Theme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Thang Tran</cp:lastModifiedBy>
  <cp:revision>3</cp:revision>
  <dcterms:created xsi:type="dcterms:W3CDTF">2026-01-14T17:31:09Z</dcterms:created>
  <dcterms:modified xsi:type="dcterms:W3CDTF">2026-01-14T18:23:01Z</dcterms:modified>
</cp:coreProperties>
</file>